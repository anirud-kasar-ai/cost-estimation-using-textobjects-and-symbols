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73152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ziro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28600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Cost Estimate Using Site Construction Drawing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E86A1A"/>
                </a:solidFill>
                <a:latin typeface="Calibri"/>
              </a:rPr>
              <a:t>AI-Powered Symbol Detection, Counting &amp; Cost Estimation from Construction Drawing PDFs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C9D4E4"/>
                </a:solidFill>
                <a:latin typeface="Calibri"/>
              </a:rPr>
              <a:t>Aziro  ·  Product Walkthrough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Manual quantity takeoff from construction drawings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E86A1A"/>
                </a:solidFill>
              </a:rPr>
              <a:t>▪  </a:t>
            </a:r>
            <a:r>
              <a:rPr sz="1700" b="1">
                <a:solidFill>
                  <a:srgbClr val="1F3A5F"/>
                </a:solidFill>
              </a:rPr>
              <a:t>Slow &amp; repetitive — </a:t>
            </a:r>
            <a:r>
              <a:rPr sz="1700">
                <a:solidFill>
                  <a:srgbClr val="5A6472"/>
                </a:solidFill>
              </a:rPr>
              <a:t>Estimators manually count hundreds of tiny technical symbols (cameras, drops, drains, hatches…) across large multi-page drawing sets.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86A1A"/>
                </a:solidFill>
              </a:rPr>
              <a:t>▪  </a:t>
            </a:r>
            <a:r>
              <a:rPr sz="1700" b="1">
                <a:solidFill>
                  <a:srgbClr val="1F3A5F"/>
                </a:solidFill>
              </a:rPr>
              <a:t>Error-prone — </a:t>
            </a:r>
            <a:r>
              <a:rPr sz="1700">
                <a:solidFill>
                  <a:srgbClr val="5A6472"/>
                </a:solidFill>
              </a:rPr>
              <a:t>Symbols are small, dense and look alike; missed or double-counted symbols directly distort the bid price.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86A1A"/>
                </a:solidFill>
              </a:rPr>
              <a:t>▪  </a:t>
            </a:r>
            <a:r>
              <a:rPr sz="1700" b="1">
                <a:solidFill>
                  <a:srgbClr val="1F3A5F"/>
                </a:solidFill>
              </a:rPr>
              <a:t>Inconsistent pricing — </a:t>
            </a:r>
            <a:r>
              <a:rPr sz="1700">
                <a:solidFill>
                  <a:srgbClr val="5A6472"/>
                </a:solidFill>
              </a:rPr>
              <a:t>Unit costs live in spreadsheets; keeping counts × prices in sync across revisions is tedious.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86A1A"/>
                </a:solidFill>
              </a:rPr>
              <a:t>▪  </a:t>
            </a:r>
            <a:r>
              <a:rPr sz="1700" b="1">
                <a:solidFill>
                  <a:srgbClr val="1F3A5F"/>
                </a:solidFill>
              </a:rPr>
              <a:t>No audit trail — </a:t>
            </a:r>
            <a:r>
              <a:rPr sz="1700">
                <a:solidFill>
                  <a:srgbClr val="5A6472"/>
                </a:solidFill>
              </a:rPr>
              <a:t>It is hard to prove where a number in the estimate came from, or to compare two drawing revisions objectively.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86A1A"/>
                </a:solidFill>
              </a:rPr>
              <a:t>▪  </a:t>
            </a:r>
            <a:r>
              <a:rPr sz="1700" b="1">
                <a:solidFill>
                  <a:srgbClr val="1F3A5F"/>
                </a:solidFill>
              </a:rPr>
              <a:t>Scale — </a:t>
            </a:r>
            <a:r>
              <a:rPr sz="1700">
                <a:solidFill>
                  <a:srgbClr val="5A6472"/>
                </a:solidFill>
              </a:rPr>
              <a:t>A single school project can contain 10+ plan sheets, multiple wings and 50+ distinct device classes.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Upload a PDF — get a verified, costed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Automatic extraction — </a:t>
            </a:r>
            <a:r>
              <a:rPr sz="1500">
                <a:solidFill>
                  <a:srgbClr val="5A6472"/>
                </a:solidFill>
              </a:rPr>
              <a:t>Symbol legend, requirement sheets and sheet notes pulled straight from the PDF.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AI symbol detection — </a:t>
            </a:r>
            <a:r>
              <a:rPr sz="1500">
                <a:solidFill>
                  <a:srgbClr val="5A6472"/>
                </a:solidFill>
              </a:rPr>
              <a:t>YOLO deep-learning models detect and count every legend symbol on every wing of every plan sheet.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Instant costing — </a:t>
            </a:r>
            <a:r>
              <a:rPr sz="1500">
                <a:solidFill>
                  <a:srgbClr val="5A6472"/>
                </a:solidFill>
              </a:rPr>
              <a:t>Counts are matched to the legend and priced from a maintained catalog — subtotal, tax and grand total in seconds.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Human-in-the-loop — </a:t>
            </a:r>
            <a:r>
              <a:rPr sz="1500">
                <a:solidFill>
                  <a:srgbClr val="5A6472"/>
                </a:solidFill>
              </a:rPr>
              <a:t>Visual overlay review lets an estimator correct the model in two clicks; corrections auto-save and feed accuracy tracking.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Client-ready output — </a:t>
            </a:r>
            <a:r>
              <a:rPr sz="1500">
                <a:solidFill>
                  <a:srgbClr val="5A6472"/>
                </a:solidFill>
              </a:rPr>
              <a:t>Printable estimate PDF with Bill-To, tax and validity — plus CSV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463040"/>
            <a:ext cx="4754880" cy="1371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Input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One construction drawing PDF (any size — full bid sets supported)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017520"/>
            <a:ext cx="4754880" cy="1371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Processing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Fully automatic 5-stage AI pipeline, ~minutes per drawing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4572000"/>
            <a:ext cx="4754880" cy="13716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Output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Interactive report · corrected counts · estimate PDF / CSV / invoice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End-to-End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From drawing to estimate in five automatic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4</a:t>
            </a:r>
          </a:p>
        </p:txBody>
      </p:sp>
      <p:sp>
        <p:nvSpPr>
          <p:cNvPr id="7" name="Chevron 6"/>
          <p:cNvSpPr/>
          <p:nvPr/>
        </p:nvSpPr>
        <p:spPr>
          <a:xfrm>
            <a:off x="502920" y="1554480"/>
            <a:ext cx="2149388" cy="10515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1. Extract Legend
&amp; Requirements</a:t>
            </a:r>
          </a:p>
        </p:txBody>
      </p:sp>
      <p:sp>
        <p:nvSpPr>
          <p:cNvPr id="8" name="Chevron 7"/>
          <p:cNvSpPr/>
          <p:nvPr/>
        </p:nvSpPr>
        <p:spPr>
          <a:xfrm>
            <a:off x="2762036" y="1554480"/>
            <a:ext cx="2149388" cy="1051560"/>
          </a:xfrm>
          <a:prstGeom prst="chevron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2. Classify
Pages</a:t>
            </a:r>
          </a:p>
        </p:txBody>
      </p:sp>
      <p:sp>
        <p:nvSpPr>
          <p:cNvPr id="9" name="Chevron 8"/>
          <p:cNvSpPr/>
          <p:nvPr/>
        </p:nvSpPr>
        <p:spPr>
          <a:xfrm>
            <a:off x="5021152" y="1554480"/>
            <a:ext cx="2149388" cy="10515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3. Crop Diagrams
&amp; Wings</a:t>
            </a:r>
          </a:p>
        </p:txBody>
      </p:sp>
      <p:sp>
        <p:nvSpPr>
          <p:cNvPr id="10" name="Chevron 9"/>
          <p:cNvSpPr/>
          <p:nvPr/>
        </p:nvSpPr>
        <p:spPr>
          <a:xfrm>
            <a:off x="7280268" y="1554480"/>
            <a:ext cx="2149388" cy="1051560"/>
          </a:xfrm>
          <a:prstGeom prst="chevron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4. Detect Symbols
(YOLO)</a:t>
            </a:r>
          </a:p>
        </p:txBody>
      </p:sp>
      <p:sp>
        <p:nvSpPr>
          <p:cNvPr id="11" name="Chevron 10"/>
          <p:cNvSpPr/>
          <p:nvPr/>
        </p:nvSpPr>
        <p:spPr>
          <a:xfrm>
            <a:off x="9539384" y="1554480"/>
            <a:ext cx="2149388" cy="10515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200" b="1">
                <a:solidFill>
                  <a:srgbClr val="FFFFFF"/>
                </a:solidFill>
              </a:rPr>
              <a:t>5. Price &amp;
Invoice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E86A1A"/>
                </a:solidFill>
              </a:rPr>
              <a:t>▪  </a:t>
            </a:r>
            <a:r>
              <a:rPr sz="1450" b="1">
                <a:solidFill>
                  <a:srgbClr val="1F3A5F"/>
                </a:solidFill>
              </a:rPr>
              <a:t>Extract — </a:t>
            </a:r>
            <a:r>
              <a:rPr sz="1450">
                <a:solidFill>
                  <a:srgbClr val="5A6472"/>
                </a:solidFill>
              </a:rPr>
              <a:t>OCR + vision LLM read the symbol legend table and requirement sheets; every legend row keeps its drawn glyph image.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E86A1A"/>
                </a:solidFill>
              </a:rPr>
              <a:t>▪  </a:t>
            </a:r>
            <a:r>
              <a:rPr sz="1450" b="1">
                <a:solidFill>
                  <a:srgbClr val="1F3A5F"/>
                </a:solidFill>
              </a:rPr>
              <a:t>Classify — </a:t>
            </a:r>
            <a:r>
              <a:rPr sz="1450">
                <a:solidFill>
                  <a:srgbClr val="5A6472"/>
                </a:solidFill>
              </a:rPr>
              <a:t>Plan/diagram pages are identified; title blocks, notes and legends are excluded.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E86A1A"/>
                </a:solidFill>
              </a:rPr>
              <a:t>▪  </a:t>
            </a:r>
            <a:r>
              <a:rPr sz="1450" b="1">
                <a:solidFill>
                  <a:srgbClr val="1F3A5F"/>
                </a:solidFill>
              </a:rPr>
              <a:t>Crop — </a:t>
            </a:r>
            <a:r>
              <a:rPr sz="1450">
                <a:solidFill>
                  <a:srgbClr val="5A6472"/>
                </a:solidFill>
              </a:rPr>
              <a:t>Each diagram is split by wing/building name (e.g. B-WING-EAST) into high-resolution zoom tiles.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E86A1A"/>
                </a:solidFill>
              </a:rPr>
              <a:t>▪  </a:t>
            </a:r>
            <a:r>
              <a:rPr sz="1450" b="1">
                <a:solidFill>
                  <a:srgbClr val="1F3A5F"/>
                </a:solidFill>
              </a:rPr>
              <a:t>Detect — </a:t>
            </a:r>
            <a:r>
              <a:rPr sz="1450">
                <a:solidFill>
                  <a:srgbClr val="5A6472"/>
                </a:solidFill>
              </a:rPr>
              <a:t>The best YOLO model is auto-selected per drawing; detections are matched to legend numbers and verified.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E86A1A"/>
                </a:solidFill>
              </a:rPr>
              <a:t>▪  </a:t>
            </a:r>
            <a:r>
              <a:rPr sz="1450" b="1">
                <a:solidFill>
                  <a:srgbClr val="1F3A5F"/>
                </a:solidFill>
              </a:rPr>
              <a:t>Price — </a:t>
            </a:r>
            <a:r>
              <a:rPr sz="1450">
                <a:solidFill>
                  <a:srgbClr val="5A6472"/>
                </a:solidFill>
              </a:rPr>
              <a:t>Counts × unit prices from the pricing catalog → invoice JSON, CSV and printable PDF with tax.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Three layers + AI pipeline + file-based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5</a:t>
            </a:r>
          </a:p>
        </p:txBody>
      </p:sp>
      <p:pic>
        <p:nvPicPr>
          <p:cNvPr id="7" name="Picture 6" descr="CEP 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188720"/>
            <a:ext cx="100584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 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What happens inside a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349240" cy="1170432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400" b="1">
                <a:solidFill>
                  <a:srgbClr val="1F3A5F"/>
                </a:solidFill>
              </a:rPr>
              <a:t>1. Legend Extraction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A6472"/>
                </a:solidFill>
              </a:rPr>
              <a:t>OCR + PDF text layer → symbol_table.json + clean glyph PNG per row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15768"/>
            <a:ext cx="5349240" cy="1170432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400" b="1">
                <a:solidFill>
                  <a:srgbClr val="1F3A5F"/>
                </a:solidFill>
              </a:rPr>
              <a:t>2. Page Rendering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A6472"/>
                </a:solidFill>
              </a:rPr>
              <a:t>PyMuPDF, 200 DPI page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14216"/>
            <a:ext cx="5349240" cy="1170432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400" b="1">
                <a:solidFill>
                  <a:srgbClr val="1F3A5F"/>
                </a:solidFill>
              </a:rPr>
              <a:t>3. Page Classification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A6472"/>
                </a:solidFill>
              </a:rPr>
              <a:t>Vision LLM (Groq) keeps plan/diagram sheets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312664"/>
            <a:ext cx="5349240" cy="1170432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400" b="1">
                <a:solidFill>
                  <a:srgbClr val="1F3A5F"/>
                </a:solidFill>
              </a:rPr>
              <a:t>4. Drawing Crop + Wing Map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A6472"/>
                </a:solidFill>
              </a:rPr>
              <a:t>OpenCV crop; vision LLM finds wing anchors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349240" cy="1170432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400" b="1">
                <a:solidFill>
                  <a:srgbClr val="1F3A5F"/>
                </a:solidFill>
              </a:rPr>
              <a:t>5. Wing Crop + Zoom Tiles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A6472"/>
                </a:solidFill>
              </a:rPr>
              <a:t>588px tiles, 10% overlap per wing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715768"/>
            <a:ext cx="5349240" cy="1170432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400" b="1">
                <a:solidFill>
                  <a:srgbClr val="1F3A5F"/>
                </a:solidFill>
              </a:rPr>
              <a:t>6. YOLO Detection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A6472"/>
                </a:solidFill>
              </a:rPr>
              <a:t>Auto-selected .pt model; NMS + full-wing pass + verifier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014216"/>
            <a:ext cx="5349240" cy="1170432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400" b="1">
                <a:solidFill>
                  <a:srgbClr val="1F3A5F"/>
                </a:solidFill>
              </a:rPr>
              <a:t>7. Legend Match + Count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A6472"/>
                </a:solidFill>
              </a:rPr>
              <a:t>Detections → legend numbers → per-wing → totals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312664"/>
            <a:ext cx="5349240" cy="1170432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400" b="1">
                <a:solidFill>
                  <a:srgbClr val="1F3A5F"/>
                </a:solidFill>
              </a:rPr>
              <a:t>8. Pricing + Invoice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5A6472"/>
                </a:solidFill>
              </a:rPr>
              <a:t>Catalog prices, tax; PDF / CSV / JSON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UI — Upload Drawings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Home page: one PDF in, live progress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035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Drag &amp; drop — </a:t>
            </a:r>
            <a:r>
              <a:rPr sz="1500">
                <a:solidFill>
                  <a:srgbClr val="5A6472"/>
                </a:solidFill>
              </a:rPr>
              <a:t>PDF-only upload zone with validation and re-process support.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Live progress card — </a:t>
            </a:r>
            <a:r>
              <a:rPr sz="1500">
                <a:solidFill>
                  <a:srgbClr val="5A6472"/>
                </a:solidFill>
              </a:rPr>
              <a:t>Five pipeline steps with spinner, progress bar and ETA.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Recent Uploads — </a:t>
            </a:r>
            <a:r>
              <a:rPr sz="1500">
                <a:solidFill>
                  <a:srgbClr val="5A6472"/>
                </a:solidFill>
              </a:rPr>
              <a:t>Sortable, paginated table of all projects: size, time taken, status badge, invoice download, View Report.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Resilient — </a:t>
            </a:r>
            <a:r>
              <a:rPr sz="1500">
                <a:solidFill>
                  <a:srgbClr val="5A6472"/>
                </a:solidFill>
              </a:rPr>
              <a:t>Max 2 concurrent jobs; queued uploads wait; jobs auto-resume after a backend restart.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63040"/>
            <a:ext cx="4663440" cy="21031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Status lifecycle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Queued → Processing (5 stages) → Complete / Failed
Same file re-uploaded = same project re-processed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749039"/>
            <a:ext cx="4663440" cy="21031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For every project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Its own report, corrections, invoice PDF/CSV and full artifact folder on disk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UI — Project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Everything the AI found — visually verifiable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E86A1A"/>
                </a:solidFill>
              </a:rPr>
              <a:t>▪  </a:t>
            </a:r>
            <a:r>
              <a:rPr sz="1550" b="1">
                <a:solidFill>
                  <a:srgbClr val="1F3A5F"/>
                </a:solidFill>
              </a:rPr>
              <a:t>Project metadata — </a:t>
            </a:r>
            <a:r>
              <a:rPr sz="1550">
                <a:solidFill>
                  <a:srgbClr val="5A6472"/>
                </a:solidFill>
              </a:rPr>
              <a:t>File, pages, model used, legend rows, wings scanned, processing time.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E86A1A"/>
                </a:solidFill>
              </a:rPr>
              <a:t>▪  </a:t>
            </a:r>
            <a:r>
              <a:rPr sz="1550" b="1">
                <a:solidFill>
                  <a:srgbClr val="1F3A5F"/>
                </a:solidFill>
              </a:rPr>
              <a:t>Detected symbols — </a:t>
            </a:r>
            <a:r>
              <a:rPr sz="1550">
                <a:solidFill>
                  <a:srgbClr val="5A6472"/>
                </a:solidFill>
              </a:rPr>
              <a:t>Per-class tallies plus average / minimum detection confidence.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E86A1A"/>
                </a:solidFill>
              </a:rPr>
              <a:t>▪  </a:t>
            </a:r>
            <a:r>
              <a:rPr sz="1550" b="1">
                <a:solidFill>
                  <a:srgbClr val="1F3A5F"/>
                </a:solidFill>
              </a:rPr>
              <a:t>Detection overlay — </a:t>
            </a:r>
            <a:r>
              <a:rPr sz="1550">
                <a:solidFill>
                  <a:srgbClr val="5A6472"/>
                </a:solidFill>
              </a:rPr>
              <a:t>Wing images with color-coded bounding boxes and confidence tooltips; unmatched detections can be toggled.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E86A1A"/>
                </a:solidFill>
              </a:rPr>
              <a:t>▪  </a:t>
            </a:r>
            <a:r>
              <a:rPr sz="1550" b="1">
                <a:solidFill>
                  <a:srgbClr val="1F3A5F"/>
                </a:solidFill>
              </a:rPr>
              <a:t>Symbol legend — </a:t>
            </a:r>
            <a:r>
              <a:rPr sz="1550">
                <a:solidFill>
                  <a:srgbClr val="5A6472"/>
                </a:solidFill>
              </a:rPr>
              <a:t>Extracted legend rows with download of the technical-symbol PDF.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E86A1A"/>
                </a:solidFill>
              </a:rPr>
              <a:t>▪  </a:t>
            </a:r>
            <a:r>
              <a:rPr sz="1550" b="1">
                <a:solidFill>
                  <a:srgbClr val="1F3A5F"/>
                </a:solidFill>
              </a:rPr>
              <a:t>Detailed costing report — </a:t>
            </a:r>
            <a:r>
              <a:rPr sz="1550">
                <a:solidFill>
                  <a:srgbClr val="5A6472"/>
                </a:solidFill>
              </a:rPr>
              <a:t>Editable count, unit price and note per device line; model count always stays visible next to the human-corrected value.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E86A1A"/>
                </a:solidFill>
              </a:rPr>
              <a:t>▪  </a:t>
            </a:r>
            <a:r>
              <a:rPr sz="1550" b="1">
                <a:solidFill>
                  <a:srgbClr val="1F3A5F"/>
                </a:solidFill>
              </a:rPr>
              <a:t>Exports — </a:t>
            </a:r>
            <a:r>
              <a:rPr sz="1550">
                <a:solidFill>
                  <a:srgbClr val="5A6472"/>
                </a:solidFill>
              </a:rPr>
              <a:t>Invoice CSV and estimate PDF downloads.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Human-in-the-Loop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Correct the model in two clicks — on the drawing itself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Remove false positive — </a:t>
            </a:r>
            <a:r>
              <a:rPr sz="1500">
                <a:solidFill>
                  <a:srgbClr val="5A6472"/>
                </a:solidFill>
              </a:rPr>
              <a:t>Click any detection box → count −1, with an auto note.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Add missed symbol — </a:t>
            </a:r>
            <a:r>
              <a:rPr sz="1500">
                <a:solidFill>
                  <a:srgbClr val="5A6472"/>
                </a:solidFill>
              </a:rPr>
              <a:t>Pick a class, click the drawing where it sits → count +1, marker drawn at that spot.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Auto-save — </a:t>
            </a:r>
            <a:r>
              <a:rPr sz="1500">
                <a:solidFill>
                  <a:srgbClr val="5A6472"/>
                </a:solidFill>
              </a:rPr>
              <a:t>Corrections persist ~2.5 s after the last edit — nothing is lost on refresh.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Feedback loop — </a:t>
            </a:r>
            <a:r>
              <a:rPr sz="1500">
                <a:solidFill>
                  <a:srgbClr val="5A6472"/>
                </a:solidFill>
              </a:rPr>
              <a:t>Saved corrections drive the live 'human-verified accuracy' metric on the Model Performance 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63040"/>
            <a:ext cx="4663440" cy="201168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Why it matters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The estimator stays in control: AI does the heavy counting, a human signs off — with a full audit trail of what changed and why.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3657600"/>
            <a:ext cx="4663440" cy="201168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Correction priority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Session edit  &gt;  saved human correction  &gt;  model value
(original model value is never overwritten)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UI — Invoice / Cost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Client-ready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A4-style estimate — </a:t>
            </a:r>
            <a:r>
              <a:rPr sz="1500">
                <a:solidFill>
                  <a:srgbClr val="5A6472"/>
                </a:solidFill>
              </a:rPr>
              <a:t>Estimate number, issue date, validity window, From / Bill-To.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Editable client block — </a:t>
            </a:r>
            <a:r>
              <a:rPr sz="1500">
                <a:solidFill>
                  <a:srgbClr val="5A6472"/>
                </a:solidFill>
              </a:rPr>
              <a:t>Name, address, contact — server PDF regenerates on save.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Editable tax rate — </a:t>
            </a:r>
            <a:r>
              <a:rPr sz="1500">
                <a:solidFill>
                  <a:srgbClr val="5A6472"/>
                </a:solidFill>
              </a:rPr>
              <a:t>Click the tax row, enter %, invoice JSON/CSV/PDF rebuilt.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Print &amp; download — </a:t>
            </a:r>
            <a:r>
              <a:rPr sz="1500">
                <a:solidFill>
                  <a:srgbClr val="5A6472"/>
                </a:solidFill>
              </a:rPr>
              <a:t>Print-friendly styling; one-click estimate PDF download.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Multi-currency display — </a:t>
            </a:r>
            <a:r>
              <a:rPr sz="1500">
                <a:solidFill>
                  <a:srgbClr val="5A6472"/>
                </a:solidFill>
              </a:rPr>
              <a:t>USD base with EUR / GBP / INR / AED display conversion.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63040"/>
            <a:ext cx="4663440" cy="42062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Estimate contents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Line items (device, qty, unit, unit cost, line total)
Subtotal → Tax → Grand total
Generated from the corrected counts — the estimate always matches what the estimator approved on the Report page.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UI — Pricing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Unit costs with real legend symbols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>
                <a:solidFill>
                  <a:srgbClr val="E86A1A"/>
                </a:solidFill>
              </a:rPr>
              <a:t>▪  </a:t>
            </a:r>
            <a:r>
              <a:rPr sz="1550" b="1">
                <a:solidFill>
                  <a:srgbClr val="1F3A5F"/>
                </a:solidFill>
              </a:rPr>
              <a:t>Symbol image per device — </a:t>
            </a:r>
            <a:r>
              <a:rPr sz="1550">
                <a:solidFill>
                  <a:srgbClr val="5A6472"/>
                </a:solidFill>
              </a:rPr>
              <a:t>Each row shows the actual drawn symbol, sourced first from the extracted symbol legend (clean vector-quality glyphs); hover to enlarge.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E86A1A"/>
                </a:solidFill>
              </a:rPr>
              <a:t>▪  </a:t>
            </a:r>
            <a:r>
              <a:rPr sz="1550" b="1">
                <a:solidFill>
                  <a:srgbClr val="1F3A5F"/>
                </a:solidFill>
              </a:rPr>
              <a:t>Smart matching — </a:t>
            </a:r>
            <a:r>
              <a:rPr sz="1550">
                <a:solidFill>
                  <a:srgbClr val="5A6472"/>
                </a:solidFill>
              </a:rPr>
              <a:t>Legend matching tolerates abbreviations (FACP, STC, NVR), initials and misspellings between model class names and legend text.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E86A1A"/>
                </a:solidFill>
              </a:rPr>
              <a:t>▪  </a:t>
            </a:r>
            <a:r>
              <a:rPr sz="1550" b="1">
                <a:solidFill>
                  <a:srgbClr val="1F3A5F"/>
                </a:solidFill>
              </a:rPr>
              <a:t>Full catalog — </a:t>
            </a:r>
            <a:r>
              <a:rPr sz="1550">
                <a:solidFill>
                  <a:srgbClr val="5A6472"/>
                </a:solidFill>
              </a:rPr>
              <a:t>Every trained device class with description, unit and price — searchable, sortable, paginated.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E86A1A"/>
                </a:solidFill>
              </a:rPr>
              <a:t>▪  </a:t>
            </a:r>
            <a:r>
              <a:rPr sz="1550" b="1">
                <a:solidFill>
                  <a:srgbClr val="1F3A5F"/>
                </a:solidFill>
              </a:rPr>
              <a:t>Locked manual prices — </a:t>
            </a:r>
            <a:r>
              <a:rPr sz="1550">
                <a:solidFill>
                  <a:srgbClr val="5A6472"/>
                </a:solidFill>
              </a:rPr>
              <a:t>Click a price to edit with a reason; edited prices are marked 'manual' and never drift on refresh.</a:t>
            </a:r>
          </a:p>
          <a:p>
            <a:pPr>
              <a:spcAft>
                <a:spcPts val="1000"/>
              </a:spcAft>
            </a:pPr>
            <a:r>
              <a:rPr sz="1550">
                <a:solidFill>
                  <a:srgbClr val="E86A1A"/>
                </a:solidFill>
              </a:rPr>
              <a:t>▪  </a:t>
            </a:r>
            <a:r>
              <a:rPr sz="1550" b="1">
                <a:solidFill>
                  <a:srgbClr val="1F3A5F"/>
                </a:solidFill>
              </a:rPr>
              <a:t>Single source of truth — </a:t>
            </a:r>
            <a:r>
              <a:rPr sz="1550">
                <a:solidFill>
                  <a:srgbClr val="5A6472"/>
                </a:solidFill>
              </a:rPr>
              <a:t>Catalog lives in pricing/device_prices.csv and feeds every invoice build.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UI — Model 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Accuracy, transparency,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KPIs — </a:t>
            </a:r>
            <a:r>
              <a:rPr sz="1500">
                <a:solidFill>
                  <a:srgbClr val="5A6472"/>
                </a:solidFill>
              </a:rPr>
              <a:t>Total symbols detected, drawings processed, average processing time, active model.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Charts — </a:t>
            </a:r>
            <a:r>
              <a:rPr sz="1500">
                <a:solidFill>
                  <a:srgbClr val="5A6472"/>
                </a:solidFill>
              </a:rPr>
              <a:t>Detections by class and per-class detection share.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Class-wise table — </a:t>
            </a:r>
            <a:r>
              <a:rPr sz="1500">
                <a:solidFill>
                  <a:srgbClr val="5A6472"/>
                </a:solidFill>
              </a:rPr>
              <a:t>Symbol image, trained-in models, and training mAP50 / Precision / Recall meters per class.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Model inventory — </a:t>
            </a:r>
            <a:r>
              <a:rPr sz="1500">
                <a:solidFill>
                  <a:srgbClr val="5A6472"/>
                </a:solidFill>
              </a:rPr>
              <a:t>Every .pt weight file with size, date, classes and active flag.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63040"/>
            <a:ext cx="4663440" cy="42062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Two views of accuracy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Training accuracy — mAP50 / precision / recall embedded in each model checkpoint.
Human-verified accuracy — computed live from estimator corrections: 1 − |model − human| ÷ human, across all verified lines.
Together they show how the model performs in the lab AND on real jobs.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UI — Project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Two drawings side by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Pick any two projects — </a:t>
            </a:r>
            <a:r>
              <a:rPr sz="1500">
                <a:solidFill>
                  <a:srgbClr val="5A6472"/>
                </a:solidFill>
              </a:rPr>
              <a:t>e.g. two revisions of the same school, or two similar buildings.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Metadata side-by-side — </a:t>
            </a:r>
            <a:r>
              <a:rPr sz="1500">
                <a:solidFill>
                  <a:srgbClr val="5A6472"/>
                </a:solidFill>
              </a:rPr>
              <a:t>Pages, wings, models, processing time.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Symbol count deltas — </a:t>
            </a:r>
            <a:r>
              <a:rPr sz="1500">
                <a:solidFill>
                  <a:srgbClr val="5A6472"/>
                </a:solidFill>
              </a:rPr>
              <a:t>Per-class counts with differences highlighted.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E86A1A"/>
                </a:solidFill>
              </a:rPr>
              <a:t>▪  </a:t>
            </a:r>
            <a:r>
              <a:rPr sz="1500" b="1">
                <a:solidFill>
                  <a:srgbClr val="1F3A5F"/>
                </a:solidFill>
              </a:rPr>
              <a:t>Cost impact — </a:t>
            </a:r>
            <a:r>
              <a:rPr sz="1500">
                <a:solidFill>
                  <a:srgbClr val="5A6472"/>
                </a:solidFill>
              </a:rPr>
              <a:t>Line-item and total cost deltas — the price of a design change is visible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63040"/>
            <a:ext cx="4663440" cy="420624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Use cases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Revision impact — what did addendum #2 add to the bid?
Benchmarking — do two similar campuses carry similar device densities?
QA — a sudden count jump between revisions flags extraction issues early.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 / ML 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4"/>
                </a:solidFill>
                <a:latin typeface="Calibri"/>
              </a:rPr>
              <a:t>Models, data and the learning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5577840" cy="2331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600" b="1">
                <a:solidFill>
                  <a:srgbClr val="1F3A5F"/>
                </a:solidFill>
              </a:rPr>
              <a:t>YOLO symbol detectors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472"/>
                </a:solidFill>
              </a:rPr>
              <a:t>Multiple Ultralytics .pt models (roof + technology classes, 50+ device classes); best model auto-selected per drawing; NMS, tile overlap merging and a CNN verifier reduce false positives.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577840" cy="2331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600" b="1">
                <a:solidFill>
                  <a:srgbClr val="1F3A5F"/>
                </a:solidFill>
              </a:rPr>
              <a:t>Vision LLM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472"/>
                </a:solidFill>
              </a:rPr>
              <a:t>Groq-hosted vision model classifies pages and finds wing name anchors; PDF text layer used wherever available.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31920"/>
            <a:ext cx="5577840" cy="2331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600" b="1">
                <a:solidFill>
                  <a:srgbClr val="1F3A5F"/>
                </a:solidFill>
              </a:rPr>
              <a:t>Legend glyph extraction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472"/>
                </a:solidFill>
              </a:rPr>
              <a:t>Every legend row's drawn symbol is cropped, cleaned and stored — powering symbol displays and CV template matching.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3931920"/>
            <a:ext cx="5577840" cy="233172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600" b="1">
                <a:solidFill>
                  <a:srgbClr val="1F3A5F"/>
                </a:solidFill>
              </a:rPr>
              <a:t>Continuous improvement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5A6472"/>
                </a:solidFill>
              </a:rPr>
              <a:t>Human corrections are stored per line and aggregated into accuracy metrics; datasets in Roboflow/YOLO format enable retraining (Colab pipeline included).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E8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 Stack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2743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>
                <a:solidFill>
                  <a:srgbClr val="8FA3BF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5577840" cy="1600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Frontend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React + TanStack Start/Router/Query, Tailwind CSS, Recharts — responsive, dark/light, multi-currency.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280160"/>
            <a:ext cx="5577840" cy="1600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Backend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FastAPI (Python), ThreadPool job queue, auto-resume, file-based storage (no database needed for the POC).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63240"/>
            <a:ext cx="5577840" cy="1600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AI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Ultralytics YOLO, CNN verifier, Groq vision LLM, PyMuPDF, OpenCV, Tesseract OCR.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063240"/>
            <a:ext cx="5577840" cy="1600200"/>
          </a:xfrm>
          <a:prstGeom prst="roundRect">
            <a:avLst/>
          </a:prstGeom>
          <a:solidFill>
            <a:srgbClr val="F4F6FA"/>
          </a:solidFill>
          <a:ln w="12700">
            <a:solidFill>
              <a:srgbClr val="D8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91440"/>
          <a:lstStyle/>
          <a:p>
            <a:pPr algn="ctr"/>
            <a:r>
              <a:rPr sz="1500" b="1">
                <a:solidFill>
                  <a:srgbClr val="1F3A5F"/>
                </a:solidFill>
              </a:rPr>
              <a:t>Outputs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5A6472"/>
                </a:solidFill>
              </a:rPr>
              <a:t>Interactive report · estimate PDF (ReportLab) · invoice CSV/JSON · full artifact folder per project.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029200"/>
            <a:ext cx="11201400" cy="12344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2000" b="1">
                <a:solidFill>
                  <a:srgbClr val="FFFFFF"/>
                </a:solidFill>
              </a:rPr>
              <a:t>Upload a drawing → verified counts → client-ready estimate.  AI speed with estimator control.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